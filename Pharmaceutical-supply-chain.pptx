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0" r:id="rId4"/>
  </p:sldMasterIdLst>
  <p:notesMasterIdLst>
    <p:notesMasterId r:id="rId19"/>
  </p:notesMasterIdLst>
  <p:handoutMasterIdLst>
    <p:handoutMasterId r:id="rId20"/>
  </p:handoutMasterIdLst>
  <p:sldIdLst>
    <p:sldId id="256" r:id="rId5"/>
    <p:sldId id="265" r:id="rId6"/>
    <p:sldId id="269" r:id="rId7"/>
    <p:sldId id="260" r:id="rId8"/>
    <p:sldId id="271" r:id="rId9"/>
    <p:sldId id="277" r:id="rId10"/>
    <p:sldId id="266" r:id="rId11"/>
    <p:sldId id="276" r:id="rId12"/>
    <p:sldId id="272" r:id="rId13"/>
    <p:sldId id="267" r:id="rId14"/>
    <p:sldId id="275" r:id="rId15"/>
    <p:sldId id="268" r:id="rId16"/>
    <p:sldId id="274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8" autoAdjust="0"/>
    <p:restoredTop sz="93583" autoAdjust="0"/>
  </p:normalViewPr>
  <p:slideViewPr>
    <p:cSldViewPr snapToGrid="0">
      <p:cViewPr varScale="1">
        <p:scale>
          <a:sx n="70" d="100"/>
          <a:sy n="70" d="100"/>
        </p:scale>
        <p:origin x="71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AEF700-9B0B-4359-8356-DCE7EE4E41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BF05B-06DB-4EC8-B476-CF95F9BD85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3D6361-1E3C-4214-95E1-B8DE93421F8F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1952E-79CD-4E03-AAEB-C22680419E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CA65F-8548-4E36-8331-FD471638BD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CE0281-66A0-46B8-BDE2-AEF0C745375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73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F9CFFA-1E2F-4435-8DD6-9B5CC3FF4505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EDED1C-4656-4CF8-AD34-DC4A65BB391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429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842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078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177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AE647-81C5-5678-CCB0-7C5C50D87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175D6-3DBD-A0BC-2895-65C7546A4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AC025-D242-4BC2-AB0E-26F83FA36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F4DB5-49BF-B21B-DD45-F709F0CE9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269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9222-4DBF-1FA7-A6EA-A25E20FCE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F9AAC4-62EB-7518-C87A-1CCD41E9C3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DE3E1-3086-99D4-61CF-12DBD01B6C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846F2-7FC6-0DCC-64E6-65BA773277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898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A49DF-1152-0508-2111-FEB6FDE9E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19F83-C654-ACEA-B348-183849ED7C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0B520-CC5B-E1D9-44A2-4D44424BF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F1E5D-E2D2-DF01-1ECA-95680EBF92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577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062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40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834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472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0399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4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567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988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99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660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222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2194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88000">
              <a:schemeClr val="accent1">
                <a:lumMod val="5000"/>
                <a:lumOff val="95000"/>
              </a:schemeClr>
            </a:gs>
            <a:gs pos="62000">
              <a:srgbClr val="DCE5F4"/>
            </a:gs>
            <a:gs pos="22000">
              <a:schemeClr val="accent1">
                <a:lumMod val="45000"/>
                <a:lumOff val="55000"/>
              </a:schemeClr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11/2/2025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6593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1" r:id="rId1"/>
    <p:sldLayoutId id="2147483932" r:id="rId2"/>
    <p:sldLayoutId id="2147483933" r:id="rId3"/>
    <p:sldLayoutId id="2147483934" r:id="rId4"/>
    <p:sldLayoutId id="2147483935" r:id="rId5"/>
    <p:sldLayoutId id="2147483936" r:id="rId6"/>
    <p:sldLayoutId id="2147483937" r:id="rId7"/>
    <p:sldLayoutId id="2147483938" r:id="rId8"/>
    <p:sldLayoutId id="2147483939" r:id="rId9"/>
    <p:sldLayoutId id="2147483940" r:id="rId10"/>
    <p:sldLayoutId id="2147483941" r:id="rId11"/>
    <p:sldLayoutId id="21474839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etri Dish">
            <a:extLst>
              <a:ext uri="{FF2B5EF4-FFF2-40B4-BE49-F238E27FC236}">
                <a16:creationId xmlns:a16="http://schemas.microsoft.com/office/drawing/2014/main" id="{86F9DCF7-E07D-21DA-3FFC-61656A7A5E3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57274" y="10"/>
            <a:ext cx="4834726" cy="68579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28F73E-EFAA-32D8-39A2-52FAEA1D96C8}"/>
              </a:ext>
            </a:extLst>
          </p:cNvPr>
          <p:cNvSpPr txBox="1"/>
          <p:nvPr/>
        </p:nvSpPr>
        <p:spPr>
          <a:xfrm>
            <a:off x="279930" y="2551837"/>
            <a:ext cx="1219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36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inefficient management</a:t>
            </a:r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sz="36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inventory</a:t>
            </a:r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leading to </a:t>
            </a:r>
            <a:r>
              <a:rPr lang="en-US" sz="36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financial losses </a:t>
            </a:r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36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expired products</a:t>
            </a:r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high capital tied up in </a:t>
            </a:r>
            <a:r>
              <a:rPr lang="en-US" sz="36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overstock</a:t>
            </a:r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potential </a:t>
            </a:r>
            <a:r>
              <a:rPr lang="en-US" sz="36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stockouts</a:t>
            </a:r>
            <a:r>
              <a:rPr lang="en-US" sz="3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critical medicines. 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DE7D5CC-3FAA-C35C-D55B-5C55D5913C7E}"/>
              </a:ext>
            </a:extLst>
          </p:cNvPr>
          <p:cNvSpPr txBox="1">
            <a:spLocks/>
          </p:cNvSpPr>
          <p:nvPr/>
        </p:nvSpPr>
        <p:spPr>
          <a:xfrm>
            <a:off x="3954110" y="1402775"/>
            <a:ext cx="4283780" cy="7433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21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8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6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  <a:endParaRPr lang="en-US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0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5" descr="Formula">
            <a:extLst>
              <a:ext uri="{FF2B5EF4-FFF2-40B4-BE49-F238E27FC236}">
                <a16:creationId xmlns:a16="http://schemas.microsoft.com/office/drawing/2014/main" id="{16815843-F674-F7F5-6EBB-3D7BCE0757B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>
          <a:xfrm>
            <a:off x="20" y="10"/>
            <a:ext cx="4024741" cy="685799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BA874F3-0D55-C802-CC91-1CD7C5CAF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53" y="-61426"/>
            <a:ext cx="4128247" cy="958671"/>
          </a:xfrm>
        </p:spPr>
        <p:txBody>
          <a:bodyPr>
            <a:normAutofit/>
          </a:bodyPr>
          <a:lstStyle/>
          <a:p>
            <a:pPr algn="l"/>
            <a:r>
              <a:rPr lang="en-US" sz="3600" i="1" cap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Overview: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F82B2F-FF93-2CE8-AAE4-4093F0603FC5}"/>
              </a:ext>
            </a:extLst>
          </p:cNvPr>
          <p:cNvSpPr txBox="1"/>
          <p:nvPr/>
        </p:nvSpPr>
        <p:spPr>
          <a:xfrm>
            <a:off x="841769" y="882240"/>
            <a:ext cx="105021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lang="en-US" altLang="en-US" sz="24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Size </a:t>
            </a:r>
            <a:r>
              <a:rPr lang="en-US" altLang="en-US" b="1" dirty="0">
                <a:solidFill>
                  <a:schemeClr val="bg1"/>
                </a:solidFill>
                <a:latin typeface="Arial" panose="020B0604020202020204" pitchFamily="34" charset="0"/>
              </a:rPr>
              <a:t>:</a:t>
            </a:r>
            <a:r>
              <a:rPr lang="en-US" altLang="en-US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204199</a:t>
            </a:r>
            <a:r>
              <a:rPr lang="en-US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rows × 18 columns</a:t>
            </a:r>
            <a:endParaRPr lang="en-US" alt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lang="en-US" altLang="en-US" sz="24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Period Covered</a:t>
            </a:r>
            <a:r>
              <a:rPr lang="en-US" altLang="en-US" sz="2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Jan 2024 – Jul 2025 </a:t>
            </a:r>
          </a:p>
          <a:p>
            <a:pPr marL="514350" lvl="0" indent="-514350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endParaRPr lang="en-US" alt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94C73F-8926-1669-0C2E-B145FEBBAFD8}"/>
              </a:ext>
            </a:extLst>
          </p:cNvPr>
          <p:cNvSpPr txBox="1"/>
          <p:nvPr/>
        </p:nvSpPr>
        <p:spPr>
          <a:xfrm>
            <a:off x="377845" y="2044422"/>
            <a:ext cx="11633532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r>
              <a:rPr lang="en-US" sz="3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Manufacturer , Transaction Date , Expiry Date  ,Cost Price , Stocks On Hands</a:t>
            </a:r>
          </a:p>
          <a:p>
            <a:endParaRPr lang="en-US" sz="2400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Key Features </a:t>
            </a:r>
            <a:r>
              <a:rPr lang="en-US" sz="2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Product Name , Product Category</a:t>
            </a:r>
            <a:endParaRPr lang="en-US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Engineering</a:t>
            </a: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Received Stocks , Days Until Expiry , Expenditure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2800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B18C74-2B34-133A-4C70-F9C04CE0FA90}"/>
              </a:ext>
            </a:extLst>
          </p:cNvPr>
          <p:cNvSpPr txBox="1"/>
          <p:nvPr/>
        </p:nvSpPr>
        <p:spPr>
          <a:xfrm>
            <a:off x="377845" y="5891629"/>
            <a:ext cx="108652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Sources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Kaggle dataset on pharmaceutical sales.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2B5680-6926-A73A-2019-CA9E50A95F2C}"/>
              </a:ext>
            </a:extLst>
          </p:cNvPr>
          <p:cNvSpPr txBox="1"/>
          <p:nvPr/>
        </p:nvSpPr>
        <p:spPr>
          <a:xfrm flipH="1">
            <a:off x="841769" y="4179912"/>
            <a:ext cx="12275837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2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Variable</a:t>
            </a:r>
            <a:r>
              <a:rPr lang="en-US" sz="24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Revenue Loss (Expiry + Overstock + Stockouts)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ü"/>
            </a:pPr>
            <a:endParaRPr lang="en-US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6D9197-51F6-5601-9ACD-26A7F97B0BAC}"/>
              </a:ext>
            </a:extLst>
          </p:cNvPr>
          <p:cNvSpPr txBox="1"/>
          <p:nvPr/>
        </p:nvSpPr>
        <p:spPr>
          <a:xfrm>
            <a:off x="841769" y="4787318"/>
            <a:ext cx="119190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2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Units &amp; Metrics : </a:t>
            </a: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Revenue in ₹ Crores, Stock in Units,</a:t>
            </a:r>
            <a:endParaRPr lang="en-US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03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67786B-F896-8221-53A4-CF275DF51B65}"/>
              </a:ext>
            </a:extLst>
          </p:cNvPr>
          <p:cNvSpPr txBox="1"/>
          <p:nvPr/>
        </p:nvSpPr>
        <p:spPr>
          <a:xfrm>
            <a:off x="134472" y="198890"/>
            <a:ext cx="80260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:</a:t>
            </a:r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020551B5-B849-9A93-2ED2-891DB001FF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2556203"/>
            <a:ext cx="12192000" cy="38928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→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dataset was collected from database.</a:t>
            </a:r>
            <a:endParaRPr lang="en-US" altLang="en-US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Removed 0.38% missing values, standardized date formats.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Expiry Loss  and Stock Turnover Ratio.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Exploration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Descriptive stats, checked expiry/stockout distribution.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Built line, bar, and pie charts for expiry, overstock, stockout.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Identified overstock and </a:t>
            </a:r>
            <a:r>
              <a:rPr 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Expiry</a:t>
            </a:r>
            <a:r>
              <a:rPr lang="en-US" altLang="en-US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the largest contributor to revenue loss.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ACBA50-0742-5553-2FD3-AFD3D777D525}"/>
              </a:ext>
            </a:extLst>
          </p:cNvPr>
          <p:cNvSpPr txBox="1"/>
          <p:nvPr/>
        </p:nvSpPr>
        <p:spPr>
          <a:xfrm>
            <a:off x="398930" y="827742"/>
            <a:ext cx="11144250" cy="1307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</a:t>
            </a:r>
            <a:r>
              <a:rPr lang="en-US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→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</a:t>
            </a:r>
            <a:r>
              <a:rPr lang="en-US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→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</a:t>
            </a:r>
            <a:r>
              <a:rPr lang="en-US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→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Exploration </a:t>
            </a:r>
            <a:r>
              <a:rPr lang="en-US" sz="2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→ 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</a:t>
            </a:r>
            <a:r>
              <a:rPr lang="en-US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→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en-US" sz="2800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  <a:r>
              <a:rPr lang="en-US" sz="28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822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675165-56B9-FF37-89A3-4F12B0DD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31" y="92558"/>
            <a:ext cx="5934969" cy="496633"/>
          </a:xfrm>
        </p:spPr>
        <p:txBody>
          <a:bodyPr>
            <a:normAutofit fontScale="90000"/>
          </a:bodyPr>
          <a:lstStyle/>
          <a:p>
            <a:r>
              <a:rPr lang="en-US" i="1" u="sng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Expiry Losses Analysis: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01987D-2FDB-ECD8-BA37-8C7DFEB5E2B3}"/>
              </a:ext>
            </a:extLst>
          </p:cNvPr>
          <p:cNvSpPr txBox="1"/>
          <p:nvPr/>
        </p:nvSpPr>
        <p:spPr>
          <a:xfrm>
            <a:off x="0" y="5369352"/>
            <a:ext cx="12192000" cy="212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Expiry losses remained stable at low levels around 5 Cr from Aug 2023 to Mar 2024, indicating controlled costs initially.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Losses increased significantly from Apr 2024 to Feb 2025, peaking at 25 Cr in Jun 2024 and marking a period of elevated costs.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Losses declined consistently post-peak, reaching near 0 Cr by Aug 2025, showing effective recovery measures.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387864-6F3A-79AA-54C2-3455E1ABA67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7204" y="589191"/>
            <a:ext cx="11236422" cy="4898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610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60AFF4-749B-8408-25E7-273C6D94601A}"/>
              </a:ext>
            </a:extLst>
          </p:cNvPr>
          <p:cNvSpPr txBox="1"/>
          <p:nvPr/>
        </p:nvSpPr>
        <p:spPr>
          <a:xfrm>
            <a:off x="181046" y="5817906"/>
            <a:ext cx="118299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top 10 manufacturers each have around 1,800 expiry units, totaling ~18,000, indicating that expiry issues are widespread and systemic rather than limited to specific vendors."</a:t>
            </a:r>
            <a:endParaRPr lang="en-US" sz="2000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F8A26B-4B66-D3EC-F3DE-A12857A2AF2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93659" y="332208"/>
            <a:ext cx="9004679" cy="544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364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B86EDD-030A-4BC9-AC6E-4633A70DEDBB}"/>
              </a:ext>
            </a:extLst>
          </p:cNvPr>
          <p:cNvSpPr txBox="1"/>
          <p:nvPr/>
        </p:nvSpPr>
        <p:spPr>
          <a:xfrm>
            <a:off x="218554" y="5611053"/>
            <a:ext cx="117548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Expiry losses are uneven across categories, with Antiseptics leading at ₹42 Cr and Antimalarials lowest at ₹23 Cr; overall, 57% of the ₹201 Cr loss is concentrated in just three categories—Antiseptics, Analgesics, and Mood Stabilizers—highlighting key targets for waste reduction."</a:t>
            </a:r>
            <a:endParaRPr lang="en-US" sz="2000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608D7A-F944-A94F-1AF4-3F002964498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02202" y="222475"/>
            <a:ext cx="8296891" cy="5388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91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10CFA-63CD-9A88-BF9C-57DA280A9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2559666-4D46-57B1-785F-5896A94DB3DC}"/>
              </a:ext>
            </a:extLst>
          </p:cNvPr>
          <p:cNvSpPr txBox="1"/>
          <p:nvPr/>
        </p:nvSpPr>
        <p:spPr>
          <a:xfrm>
            <a:off x="121022" y="0"/>
            <a:ext cx="454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u="sng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 Stocks Analysis 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1A009A-10A1-32C4-FE66-079D2B94F17C}"/>
              </a:ext>
            </a:extLst>
          </p:cNvPr>
          <p:cNvSpPr txBox="1"/>
          <p:nvPr/>
        </p:nvSpPr>
        <p:spPr>
          <a:xfrm>
            <a:off x="121022" y="5714045"/>
            <a:ext cx="12059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i="1" dirty="0">
                <a:solidFill>
                  <a:schemeClr val="bg1"/>
                </a:solidFill>
              </a:rPr>
              <a:t>Among 240 medicines, 148 show overstock levels. The top 20 medicines alone contribute 13% of the total excess inventory, each holding more than 260 units, while over 103 products record overstock levels exceeding 200 units</a:t>
            </a:r>
            <a:endParaRPr lang="en-US" sz="2000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48B16F-2480-F086-FF79-FDE3B186694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61197" y="345088"/>
            <a:ext cx="9469605" cy="5368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352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1E35B4-1995-9070-A89E-3B4CFBE4338A}"/>
              </a:ext>
            </a:extLst>
          </p:cNvPr>
          <p:cNvSpPr txBox="1"/>
          <p:nvPr/>
        </p:nvSpPr>
        <p:spPr>
          <a:xfrm>
            <a:off x="203005" y="5706756"/>
            <a:ext cx="117859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Across all product categories, around one-third of total stock is excess. Antiseptics and Analgesics show the highest overstock levels</a:t>
            </a:r>
            <a:endParaRPr lang="en-US" sz="2000" i="1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3509A2-F693-CD74-2291-C60A65B11D3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5525" y="109774"/>
            <a:ext cx="8267908" cy="559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92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000">
              <a:srgbClr val="C8D6ED"/>
            </a:gs>
            <a:gs pos="61000">
              <a:srgbClr val="DCE5F4"/>
            </a:gs>
            <a:gs pos="11001">
              <a:srgbClr val="BECEEA"/>
            </a:gs>
            <a:gs pos="0">
              <a:schemeClr val="accent1">
                <a:lumMod val="45000"/>
                <a:lumOff val="55000"/>
              </a:schemeClr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C1E6524-2CEF-6CB8-6BD2-0DDB6D639135}"/>
              </a:ext>
            </a:extLst>
          </p:cNvPr>
          <p:cNvSpPr txBox="1"/>
          <p:nvPr/>
        </p:nvSpPr>
        <p:spPr>
          <a:xfrm>
            <a:off x="311099" y="94129"/>
            <a:ext cx="609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i="1" u="sng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Stockouts Analysis:</a:t>
            </a:r>
            <a:endParaRPr lang="en-US" sz="3200" u="sng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5007590-6E38-B2C6-2418-00184389C8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055711"/>
            <a:ext cx="12192000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sharp rise in stockouts began from September 2024 showing the start of recurring supply chain disruptions.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highest spike occurred in July 2025, with stockouts peaking above 5,000 units, signaling a major breakdown in inventory management.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Frequent fluctuations between late 2024 and mid-2025 suggest systemic demand-supply mismatches rather than isolated issues.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0DA0E9-088A-0001-0237-7A3749B20B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85782" y="496094"/>
            <a:ext cx="11220436" cy="488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401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DE7DC-B22F-6738-108A-FF7133A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3A54162-E067-F5AD-9034-B6B5166A21AE}"/>
              </a:ext>
            </a:extLst>
          </p:cNvPr>
          <p:cNvSpPr txBox="1"/>
          <p:nvPr/>
        </p:nvSpPr>
        <p:spPr>
          <a:xfrm>
            <a:off x="0" y="5724842"/>
            <a:ext cx="12115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top 20 most-requested medicines, including Dantrolac and Penitrana, account for ~80,000 stockouts, mostly 3,000–7,000 units each, highlighting widespread depletion across key treatments from cardiovascular to antiviral drugs.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507CEC-971D-27D7-63F8-BD6ADF5F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34360" y="213030"/>
            <a:ext cx="8523280" cy="537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1202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E8397-8784-E583-92A9-D275BB0CADF2}"/>
              </a:ext>
            </a:extLst>
          </p:cNvPr>
          <p:cNvSpPr txBox="1"/>
          <p:nvPr/>
        </p:nvSpPr>
        <p:spPr>
          <a:xfrm>
            <a:off x="179093" y="5716807"/>
            <a:ext cx="114389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chart shows ~225,000 stockout units, with Analgesics leading at 50,000; the top three categories—Analgesics, Antibiotics, and Antiseptics—account for 60% of shortages, highlighting the hardest-to-stock drug groups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54D3B3-E425-A1D9-39A5-7CFB1C812D2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25480" y="125530"/>
            <a:ext cx="8546189" cy="534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2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8AF6-0C6A-65DB-BBAC-6353A1ACE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A90BD07F-9C61-4ADB-31DF-D8281769A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918" y="4709231"/>
            <a:ext cx="4961964" cy="1893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💰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Profit: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₹</a:t>
            </a:r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182.10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Cr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📉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Total Loss: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₹</a:t>
            </a:r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306.76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📦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Overstock: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36% of inventory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🚫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Stockout Events: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1762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(in 2 years)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🕒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Expiry Loss: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9.5%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A169F1-F6D4-8521-BF02-EDCCD62AE3B9}"/>
              </a:ext>
            </a:extLst>
          </p:cNvPr>
          <p:cNvSpPr txBox="1"/>
          <p:nvPr/>
        </p:nvSpPr>
        <p:spPr>
          <a:xfrm>
            <a:off x="147918" y="255494"/>
            <a:ext cx="4961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Metrics (KPIs):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DE752A-4F3F-6CA8-6061-D2010AA1A37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8627" y="390562"/>
            <a:ext cx="8898303" cy="646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098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2AD0EF8B-C9CD-9B54-2A63-FB3A88B270C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10000"/>
          </a:blip>
          <a:stretch>
            <a:fillRect/>
          </a:stretch>
        </p:blipFill>
        <p:spPr>
          <a:xfrm>
            <a:off x="2687169" y="149881"/>
            <a:ext cx="6817659" cy="68176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2C2642-EB99-7214-0239-2329593412AC}"/>
              </a:ext>
            </a:extLst>
          </p:cNvPr>
          <p:cNvSpPr txBox="1"/>
          <p:nvPr/>
        </p:nvSpPr>
        <p:spPr>
          <a:xfrm>
            <a:off x="234286" y="841797"/>
            <a:ext cx="11723427" cy="645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Expenditure Dominates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50.5% 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turnover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(₹1,589.98 Cr) 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goes to expense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Sales Performance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contribute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29.4% (₹924.7 Cr)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showing good market reach and revenue generation.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Expiry Losses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6.3% (₹199.08 Cr)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lost due to expired products.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Overstock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10.4% (₹328.65 Cr)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tied up in excess inventory.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Expiry within Overstock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3.2% (₹100.67 Cr)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overstock expires.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24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Minimal Stockouts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Only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0.2% (₹7.01 Cr)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lost—supply chain is reliable and ensures customer fulfillment.</a:t>
            </a:r>
          </a:p>
          <a:p>
            <a:pPr>
              <a:lnSpc>
                <a:spcPct val="150000"/>
              </a:lnSpc>
            </a:pPr>
            <a:b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620820-473C-AE01-8662-ED9C156DB1FE}"/>
              </a:ext>
            </a:extLst>
          </p:cNvPr>
          <p:cNvSpPr txBox="1"/>
          <p:nvPr/>
        </p:nvSpPr>
        <p:spPr>
          <a:xfrm>
            <a:off x="131106" y="149881"/>
            <a:ext cx="95724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Metrics Overview (</a:t>
            </a:r>
            <a:r>
              <a:rPr lang="en-US" alt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Jan 2024 – Jul 2025 </a:t>
            </a:r>
            <a:r>
              <a:rPr lang="en-US" sz="3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:</a:t>
            </a:r>
          </a:p>
        </p:txBody>
      </p:sp>
    </p:spTree>
    <p:extLst>
      <p:ext uri="{BB962C8B-B14F-4D97-AF65-F5344CB8AC3E}">
        <p14:creationId xmlns:p14="http://schemas.microsoft.com/office/powerpoint/2010/main" val="180455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87BB563-3235-EA9C-E6AA-F57681249D9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5000"/>
          </a:blip>
          <a:stretch>
            <a:fillRect/>
          </a:stretch>
        </p:blipFill>
        <p:spPr>
          <a:xfrm>
            <a:off x="2687170" y="40341"/>
            <a:ext cx="6817659" cy="68176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E28B98-D251-D85E-3993-6A507FFC73E2}"/>
              </a:ext>
            </a:extLst>
          </p:cNvPr>
          <p:cNvSpPr txBox="1"/>
          <p:nvPr/>
        </p:nvSpPr>
        <p:spPr>
          <a:xfrm>
            <a:off x="174812" y="268941"/>
            <a:ext cx="6898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Insights &amp; Recommendations 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5DB28-D007-5588-73DE-4B9EA87DE5A6}"/>
              </a:ext>
            </a:extLst>
          </p:cNvPr>
          <p:cNvSpPr txBox="1"/>
          <p:nvPr/>
        </p:nvSpPr>
        <p:spPr>
          <a:xfrm>
            <a:off x="373039" y="948690"/>
            <a:ext cx="11818961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Optimize Inventory Turnover: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Just-in-Time (JIT)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procurement.</a:t>
            </a: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FEFO (First Expire, First Out)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reduce wastage.</a:t>
            </a: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Aim to cut overstock value by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~15%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through better supplier coordination.</a:t>
            </a:r>
          </a:p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Revenue Growth Potential: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Reducing expiry and overstock can improve net profit margin by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20–30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Enhance Demand Forecasting: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predictive analytics to align inventory with demand fluctuations.</a:t>
            </a: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a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8–10%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reduction in stockouts and overstock based on </a:t>
            </a: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2024–2025 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trends.</a:t>
            </a:r>
          </a:p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Cost Control Measures: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 procurement and logistics for inefficiencies.</a:t>
            </a:r>
          </a:p>
          <a:p>
            <a:pPr marL="1257300" lvl="2" indent="-3429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targeted promotions to 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sales efficiency to reduce the expenditure share.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2285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8E52988-C458-4121-9BF8-864CDB291D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BA7D41-7EBD-45D7-AFB8-22EF4BFA6BA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19C9275B-1E7E-409A-9467-302622C468D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1006</TotalTime>
  <Words>848</Words>
  <Application>Microsoft Office PowerPoint</Application>
  <PresentationFormat>Widescreen</PresentationFormat>
  <Paragraphs>75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Data Overview: </vt:lpstr>
      <vt:lpstr>PowerPoint Presentation</vt:lpstr>
      <vt:lpstr>Expiry Losses Analysis: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Sayyed Musab Sayyed Abdul Rauf</dc:creator>
  <cp:lastModifiedBy>Sayyed Musab Sayyed Abdul Rauf</cp:lastModifiedBy>
  <cp:revision>69</cp:revision>
  <dcterms:created xsi:type="dcterms:W3CDTF">2025-09-14T17:21:07Z</dcterms:created>
  <dcterms:modified xsi:type="dcterms:W3CDTF">2025-11-02T11:32:43Z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